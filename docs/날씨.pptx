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13" r:id="rId3"/>
    <p:sldId id="310" r:id="rId4"/>
    <p:sldId id="311" r:id="rId5"/>
    <p:sldId id="312" r:id="rId6"/>
    <p:sldId id="319" r:id="rId7"/>
    <p:sldId id="314" r:id="rId8"/>
    <p:sldId id="316" r:id="rId9"/>
    <p:sldId id="318" r:id="rId10"/>
    <p:sldId id="317" r:id="rId11"/>
    <p:sldId id="315" r:id="rId12"/>
    <p:sldId id="320" r:id="rId13"/>
  </p:sldIdLst>
  <p:sldSz cx="12192000" cy="6858000"/>
  <p:notesSz cx="6858000" cy="9144000"/>
  <p:embeddedFontLst>
    <p:embeddedFont>
      <p:font typeface="Pretendard Medium" panose="02000603000000020004" pitchFamily="50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AD6D2-84E4-7EE2-CA70-29B67BC95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AF051B-1E33-9074-8F42-448912785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A7651-436F-949A-2019-158E8B33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F9DE6A-F942-B58A-CCFC-A11AF801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09BDC-9308-F3B4-C0DC-7E90FD6F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68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E8D2F-4EC7-1B59-D609-44432C2B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908C47-53C7-451C-24C5-37077C045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430113-6374-3A37-1621-7DA803DC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BA3A3C-1416-3167-7C2B-ED72D2B6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08EA7-842C-6856-B871-72A9F995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59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AD802-633F-D393-A0CB-A6267240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4B993D-A748-6B6D-12A6-5A3ADFC18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1F4936-CF09-C09E-D5AB-8E792B59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607832-9159-D552-54FB-A14780DB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4A573-2DE3-0767-B28B-4E812240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66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F32EA-0366-6564-A52E-B225DDDF7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D39ABC-5E10-CE69-1EC1-CA1441A1B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C86A59-3842-EC43-35A1-AC888B047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65E1CF-559E-92D3-9775-D677B7857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C4EA61-1B59-855B-D575-51B38BBA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9B2C7E-4AB6-06A1-D6E4-EA1FDB5E7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01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43E88-F5F4-EA93-3B5B-B3879981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44781-A115-4A12-008D-C78212297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1DD924-47F7-FF3F-0054-4FDE5D5C7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E5410E-1CA3-9627-0E8B-F1E391654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B3D62F-78F2-40CA-F8ED-8F483B115B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619757-7A0B-53FF-5D7C-722DA7DC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4B41B5-EEDB-F3B0-CDB3-29D1A491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66AD22-15A7-3518-0A85-90A40F93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8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D38CA-CBA0-3888-0FFE-3F568D72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CB7FE9-2D22-611E-DFD7-9417DCC3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1059E5-3B47-3B25-22C6-40ED0C93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CB96B8-E2EC-C850-4B5F-EB41D091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70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F5247C-75A3-F841-67D5-1E42AB9F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05E7A2-1859-9790-CCF1-24EEB06A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7425AE-7446-D34D-D240-95D5A0ED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7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6DF08-791C-C30B-7E25-21CF3CBCD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BA079D-8715-9849-D285-A608FB21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B5A5A9-F599-36DB-B8B3-AF3955140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5CA119-088E-635E-2442-112FDE01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2E7852-AF56-7DEB-C71E-46D1A6C7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4C37B3-71CA-3F4B-1CE1-499401EE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74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C7FE2-55C3-8E95-3080-E66D37D9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131EEB-CE28-7B78-25D5-05E6866CA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A52571-FAF3-EB17-130D-AC1176115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10FD24-EE63-13C5-3527-89CD3A67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CED664-1232-D8C9-0612-996E423C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6E9611-DAA7-856A-5F95-63707BD8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77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C7331-FA05-9DB7-F7B0-7AC44CA0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63758B-3C00-5EC6-2054-DD8A71C4B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434F3-C065-20D3-FB25-F4221C11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99BDF3-5771-6012-1288-A0CD3497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AB7D5-4548-F9C4-CC4E-23C82521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84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5DDB14-251C-2F38-6702-7847226D8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F25463-BCD5-85FA-CD93-0286ED205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0B80F9-2FCB-9C84-0D52-B6EFAEE7E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0C72E8-3963-2F7B-634A-606D12D7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0F77D4-430F-CB59-EBC3-3EBA05DD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94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802781-0AD1-69FE-0B50-2F6E815D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E0BF80-5DBE-C3B4-8E16-246664D84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C6D0C-AEB7-025F-FEC6-B389F402A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E0EA6-0195-4BB5-84E6-F045B773848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F8E4E-0FAB-8D5E-96D2-8B118E1F9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73AADF-D273-D2E8-BC3A-E9448555D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006EA-6108-436F-82F9-7FB095C54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1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7350" y="2661925"/>
            <a:ext cx="9330764" cy="2092954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Dynamic Weather Rendering</a:t>
            </a:r>
          </a:p>
          <a:p>
            <a:endParaRPr lang="en-US" altLang="ko-KR" sz="56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en-US" altLang="ko-KR" sz="2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Procedural Sky</a:t>
            </a:r>
            <a:r>
              <a:rPr lang="ko-KR" altLang="en-US" sz="2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</a:t>
            </a:r>
            <a:r>
              <a:rPr lang="en-US" altLang="ko-KR" sz="2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Volumetric Fog</a:t>
            </a:r>
            <a:r>
              <a:rPr lang="ko-KR" altLang="en-US" sz="2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중심으로</a:t>
            </a:r>
            <a:endParaRPr lang="en-US" altLang="ko-KR" sz="22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ko-KR" altLang="en-US" sz="2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날씨 변화가 장면에 일관되게 반영되는 렌더링 시스템</a:t>
            </a:r>
          </a:p>
        </p:txBody>
      </p:sp>
    </p:spTree>
    <p:extLst>
      <p:ext uri="{BB962C8B-B14F-4D97-AF65-F5344CB8AC3E}">
        <p14:creationId xmlns:p14="http://schemas.microsoft.com/office/powerpoint/2010/main" val="408443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252" y="1124786"/>
            <a:ext cx="10791496" cy="3904413"/>
          </a:xfrm>
        </p:spPr>
        <p:txBody>
          <a:bodyPr>
            <a:normAutofit/>
          </a:bodyPr>
          <a:lstStyle/>
          <a:p>
            <a:r>
              <a:rPr lang="ko-KR" altLang="en-US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주제 의식과 목표</a:t>
            </a:r>
            <a:endParaRPr lang="en-US" altLang="ko-KR" sz="56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ko-KR" altLang="en-US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게임에서 날씨</a:t>
            </a:r>
            <a: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환경 효과를 따로 붙이면 장면이 하나하나 따로 노는 문제가 생길 것으로 예상</a:t>
            </a:r>
            <a:b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b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=&gt; </a:t>
            </a:r>
            <a:r>
              <a:rPr lang="ko-KR" altLang="en-US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한번의 수치 조절로 일관성 있게 보이는 시스템을 만들어보자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5DDD3D-204D-45BB-822F-FEAAD0F061E5}"/>
              </a:ext>
            </a:extLst>
          </p:cNvPr>
          <p:cNvSpPr/>
          <p:nvPr/>
        </p:nvSpPr>
        <p:spPr>
          <a:xfrm>
            <a:off x="3389588" y="3648745"/>
            <a:ext cx="1939159" cy="819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Sun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11D7F4-345E-4B34-894E-73117CF9B8F8}"/>
              </a:ext>
            </a:extLst>
          </p:cNvPr>
          <p:cNvSpPr/>
          <p:nvPr/>
        </p:nvSpPr>
        <p:spPr>
          <a:xfrm>
            <a:off x="6565681" y="3648745"/>
            <a:ext cx="1939159" cy="819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Weather </a:t>
            </a:r>
            <a:r>
              <a:rPr lang="en-US" altLang="ko-KR" dirty="0" err="1"/>
              <a:t>parms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C359F8-6774-44B7-953F-3AFA5C14403D}"/>
              </a:ext>
            </a:extLst>
          </p:cNvPr>
          <p:cNvSpPr/>
          <p:nvPr/>
        </p:nvSpPr>
        <p:spPr>
          <a:xfrm>
            <a:off x="3389587" y="5333712"/>
            <a:ext cx="1939159" cy="819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Time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64817C6-3C8B-41BA-8018-25D76B1EE03E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5328747" y="4058649"/>
            <a:ext cx="12369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7E00B8E-A982-4C5B-B0E0-D0503744D1E4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>
            <a:off x="7535261" y="4468552"/>
            <a:ext cx="0" cy="865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9F456FD-2019-4794-831C-1B39C2DD65B3}"/>
              </a:ext>
            </a:extLst>
          </p:cNvPr>
          <p:cNvCxnSpPr>
            <a:stCxn id="2" idx="2"/>
            <a:endCxn id="6" idx="0"/>
          </p:cNvCxnSpPr>
          <p:nvPr/>
        </p:nvCxnSpPr>
        <p:spPr>
          <a:xfrm flipH="1">
            <a:off x="4359167" y="4468552"/>
            <a:ext cx="1" cy="865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DB2805D-7AA4-4D46-89AA-3F14FD036E1C}"/>
              </a:ext>
            </a:extLst>
          </p:cNvPr>
          <p:cNvSpPr/>
          <p:nvPr/>
        </p:nvSpPr>
        <p:spPr>
          <a:xfrm>
            <a:off x="6565681" y="5333710"/>
            <a:ext cx="1939159" cy="819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temperature</a:t>
            </a:r>
            <a:endParaRPr lang="ko-KR" altLang="en-US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39B7009-B4F1-44BF-B42F-33099EFAE74B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5328746" y="5743614"/>
            <a:ext cx="1236935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DF86D9E-8980-45EC-AB00-A9A959AC45A6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개요</a:t>
            </a:r>
            <a:endParaRPr lang="en-US" altLang="ko-KR" sz="20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186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106627"/>
            <a:ext cx="10972800" cy="2804332"/>
          </a:xfrm>
        </p:spPr>
        <p:txBody>
          <a:bodyPr>
            <a:normAutofit/>
          </a:bodyPr>
          <a:lstStyle/>
          <a:p>
            <a:r>
              <a:rPr lang="en-US" altLang="ko-KR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Procedural</a:t>
            </a:r>
            <a:r>
              <a:rPr lang="ko-KR" altLang="en-US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Sky</a:t>
            </a:r>
          </a:p>
          <a:p>
            <a:endParaRPr lang="en-US" altLang="ko-KR" sz="56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ko-KR" altLang="en-US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하늘 </a:t>
            </a:r>
            <a:r>
              <a:rPr lang="ko-KR" altLang="en-US" sz="28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텍스쳐로</a:t>
            </a:r>
            <a:r>
              <a:rPr lang="ko-KR" altLang="en-US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하늘을 표현하는 방법이 아닌</a:t>
            </a:r>
            <a:r>
              <a:rPr lang="en-US" altLang="ko-KR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코드와 수식을 통해 </a:t>
            </a:r>
            <a:endParaRPr lang="en-US" altLang="ko-KR" sz="28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ko-KR" altLang="en-US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하늘을 그리는 기법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2F7EE-9CD8-485E-A75B-DBCF656BDB36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 기술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33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en-US" altLang="ko-KR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Procedural</a:t>
            </a:r>
            <a:r>
              <a:rPr lang="ko-KR" altLang="en-US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5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Sky</a:t>
            </a:r>
          </a:p>
          <a:p>
            <a:endParaRPr lang="en-US" altLang="ko-KR" sz="56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Gradient Sky</a:t>
            </a:r>
            <a:br>
              <a:rPr lang="en-US" altLang="ko-KR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Procedural Shader Sky</a:t>
            </a:r>
          </a:p>
          <a:p>
            <a:r>
              <a:rPr lang="en-US" altLang="ko-KR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…</a:t>
            </a:r>
          </a:p>
          <a:p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Physically Based Sky</a:t>
            </a:r>
            <a:b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lang="ko-KR" altLang="en-US" sz="20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CC3ED-5C7A-426F-8CB3-24FAC7A0AD4A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Procedural</a:t>
            </a:r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Sky</a:t>
            </a:r>
          </a:p>
        </p:txBody>
      </p:sp>
    </p:spTree>
    <p:extLst>
      <p:ext uri="{BB962C8B-B14F-4D97-AF65-F5344CB8AC3E}">
        <p14:creationId xmlns:p14="http://schemas.microsoft.com/office/powerpoint/2010/main" val="418921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en-US" altLang="ko-KR" sz="6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Physically Based Sky</a:t>
            </a:r>
          </a:p>
          <a:p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Precomputed Atmospheric Scattering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대기의 산란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투과율등을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LUT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미리 계산</a:t>
            </a: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한계</a:t>
            </a:r>
            <a:r>
              <a:rPr lang="en-US" altLang="ko-KR" sz="1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고차원 </a:t>
            </a:r>
            <a:r>
              <a:rPr lang="en-US" altLang="ko-KR" sz="1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LUT</a:t>
            </a:r>
            <a:r>
              <a:rPr lang="ko-KR" altLang="en-US" sz="1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r>
              <a:rPr lang="en-US" altLang="ko-KR" sz="1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파라미터 변화에 약함</a:t>
            </a:r>
            <a:endParaRPr lang="ko-KR" altLang="en-US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C0976-7CA9-4742-A71D-62CBC13F4A0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Procedural</a:t>
            </a:r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B3EEBB-6391-409E-B458-E60B271F0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537" y="3590996"/>
            <a:ext cx="5456207" cy="275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15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en-US" altLang="ko-KR" sz="6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Physically Based Sky</a:t>
            </a:r>
          </a:p>
          <a:p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Precomputed Atmospheric Scattering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000" dirty="0" err="1"/>
              <a:t>세바스티앙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일레르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2020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년에 나온 개선 버전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lang="ko-KR" altLang="en-US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C0976-7CA9-4742-A71D-62CBC13F4A0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Procedural</a:t>
            </a:r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Sky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C07AEE-A54D-459A-A630-D4F4341AA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752" y="2916365"/>
            <a:ext cx="7602011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9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en-US" altLang="ko-KR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Volumetric Fog </a:t>
            </a:r>
          </a:p>
          <a:p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b="1" i="0" dirty="0"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물리 기반</a:t>
            </a:r>
            <a:r>
              <a:rPr lang="ko-KR" altLang="en-US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의 조명 산란을 계산하여 입체적인 안개를 표현하는 기법</a:t>
            </a:r>
            <a:endParaRPr lang="ko-KR" altLang="en-US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963FC-2514-47B1-B009-E0779731955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 기술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9634C7-B7DA-4483-AEEA-23964C261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362" y="3312360"/>
            <a:ext cx="7811590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4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ko-KR" alt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예상 접근법</a:t>
            </a:r>
            <a:endParaRPr lang="en-US" altLang="ko-KR" sz="6000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우선 구현해보기</a:t>
            </a: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Precomputed Atmospheric Scattering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Volumetric Fog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공통 파라미터를 찾고 단순화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묶기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예시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태양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각도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위치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밝기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기온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=&gt;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시간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산란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투과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흡수율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입자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…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=&gt;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오염도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습도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963FC-2514-47B1-B009-E0779731955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기타</a:t>
            </a:r>
            <a:endParaRPr lang="en-US" altLang="ko-KR" sz="20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74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ko-KR" alt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예상 파이프라인</a:t>
            </a:r>
            <a:endParaRPr lang="en-US" altLang="ko-KR" sz="6000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963FC-2514-47B1-B009-E0779731955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기타</a:t>
            </a:r>
            <a:endParaRPr lang="en-US" altLang="ko-KR" sz="20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ED10D1-041C-4509-BE33-940B1747AB5C}"/>
              </a:ext>
            </a:extLst>
          </p:cNvPr>
          <p:cNvSpPr/>
          <p:nvPr/>
        </p:nvSpPr>
        <p:spPr>
          <a:xfrm>
            <a:off x="2932619" y="4289332"/>
            <a:ext cx="1704377" cy="445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Lighting Pass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A01B03-30FA-4132-A9DC-C64B9406DD3B}"/>
              </a:ext>
            </a:extLst>
          </p:cNvPr>
          <p:cNvSpPr/>
          <p:nvPr/>
        </p:nvSpPr>
        <p:spPr>
          <a:xfrm>
            <a:off x="872765" y="2295902"/>
            <a:ext cx="2698126" cy="362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Pre Compute Pass(Sky)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912B94-908A-423C-997B-C3B453B1442F}"/>
              </a:ext>
            </a:extLst>
          </p:cNvPr>
          <p:cNvSpPr/>
          <p:nvPr/>
        </p:nvSpPr>
        <p:spPr>
          <a:xfrm>
            <a:off x="1760484" y="4284349"/>
            <a:ext cx="1061544" cy="445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GBuffer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6B19FB-2A88-4B97-A579-5AA384BB7547}"/>
              </a:ext>
            </a:extLst>
          </p:cNvPr>
          <p:cNvSpPr/>
          <p:nvPr/>
        </p:nvSpPr>
        <p:spPr>
          <a:xfrm>
            <a:off x="6437587" y="4284340"/>
            <a:ext cx="908217" cy="445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Fog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80D70-DD61-41E1-971D-CEA3274607B3}"/>
              </a:ext>
            </a:extLst>
          </p:cNvPr>
          <p:cNvSpPr/>
          <p:nvPr/>
        </p:nvSpPr>
        <p:spPr>
          <a:xfrm>
            <a:off x="7445654" y="4284340"/>
            <a:ext cx="908217" cy="445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Sky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D3674C-095C-4DF4-8485-3F2B1291C45E}"/>
              </a:ext>
            </a:extLst>
          </p:cNvPr>
          <p:cNvSpPr/>
          <p:nvPr/>
        </p:nvSpPr>
        <p:spPr>
          <a:xfrm>
            <a:off x="8479763" y="4284339"/>
            <a:ext cx="908217" cy="445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PP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4AA33C-AB4A-4EAA-ACC5-7C77AB2F016D}"/>
              </a:ext>
            </a:extLst>
          </p:cNvPr>
          <p:cNvSpPr/>
          <p:nvPr/>
        </p:nvSpPr>
        <p:spPr>
          <a:xfrm>
            <a:off x="1739867" y="4989222"/>
            <a:ext cx="4597870" cy="362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Fog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Compute Pass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AEC7A86-2683-4345-872D-0009684CEB2E}"/>
              </a:ext>
            </a:extLst>
          </p:cNvPr>
          <p:cNvCxnSpPr/>
          <p:nvPr/>
        </p:nvCxnSpPr>
        <p:spPr>
          <a:xfrm>
            <a:off x="893380" y="3941380"/>
            <a:ext cx="9448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C5AB31-FEC8-423F-B2E7-A3F722977ED9}"/>
              </a:ext>
            </a:extLst>
          </p:cNvPr>
          <p:cNvSpPr/>
          <p:nvPr/>
        </p:nvSpPr>
        <p:spPr>
          <a:xfrm>
            <a:off x="4747587" y="4301051"/>
            <a:ext cx="1590150" cy="428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Shadow Pass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592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ko-KR" alt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예상 일정</a:t>
            </a:r>
            <a:endParaRPr lang="en-US" altLang="ko-KR" sz="6000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주차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렌더러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뼈대 잡기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프로파일러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기반 제작</a:t>
            </a: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주차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Precomputed Atmospheric Scattering</a:t>
            </a:r>
          </a:p>
          <a:p>
            <a:pPr algn="l"/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주차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Volumetric Fog</a:t>
            </a:r>
          </a:p>
          <a:p>
            <a:pPr algn="l"/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주차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파라미터 분석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통합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조절</a:t>
            </a: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l"/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주차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이후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 과제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검증 </a:t>
            </a: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데모</a:t>
            </a: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963FC-2514-47B1-B009-E0779731955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기타</a:t>
            </a:r>
            <a:endParaRPr lang="en-US" altLang="ko-KR" sz="20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941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813854"/>
            <a:ext cx="10405240" cy="4838084"/>
          </a:xfrm>
        </p:spPr>
        <p:txBody>
          <a:bodyPr>
            <a:normAutofit/>
          </a:bodyPr>
          <a:lstStyle/>
          <a:p>
            <a:r>
              <a:rPr lang="ko-KR" alt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 과제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Physically Based Wet Surface</a:t>
            </a:r>
          </a:p>
          <a:p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Volumetric Cloud</a:t>
            </a:r>
          </a:p>
          <a:p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최적화</a:t>
            </a: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963FC-2514-47B1-B009-E0779731955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기타</a:t>
            </a:r>
            <a:endParaRPr lang="en-US" altLang="ko-KR" sz="20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6165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082AEA-C1E9-40D4-EA00-522987430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80" y="353480"/>
            <a:ext cx="10405240" cy="4838084"/>
          </a:xfrm>
        </p:spPr>
        <p:txBody>
          <a:bodyPr>
            <a:normAutofit/>
          </a:bodyPr>
          <a:lstStyle/>
          <a:p>
            <a:r>
              <a:rPr lang="en-US" altLang="ko-KR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주차 진행 상황</a:t>
            </a:r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br>
              <a:rPr lang="en-US" altLang="ko-KR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lang="en-US" altLang="ko-KR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963FC-2514-47B1-B009-E07797319558}"/>
              </a:ext>
            </a:extLst>
          </p:cNvPr>
          <p:cNvSpPr txBox="1"/>
          <p:nvPr/>
        </p:nvSpPr>
        <p:spPr>
          <a:xfrm>
            <a:off x="9969063" y="5817"/>
            <a:ext cx="2222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기타</a:t>
            </a:r>
            <a:endParaRPr lang="en-US" altLang="ko-KR" sz="2000" b="1" dirty="0">
              <a:solidFill>
                <a:schemeClr val="accent4">
                  <a:lumMod val="40000"/>
                  <a:lumOff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4CE90A-CCDD-477B-9F1E-45824954D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434" y="1475395"/>
            <a:ext cx="6235256" cy="46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76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286</Words>
  <Application>Microsoft Office PowerPoint</Application>
  <PresentationFormat>와이드스크린</PresentationFormat>
  <Paragraphs>63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Pretendard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캡스톤 디자인</dc:title>
  <dc:creator>해 주</dc:creator>
  <cp:lastModifiedBy>주해</cp:lastModifiedBy>
  <cp:revision>45</cp:revision>
  <dcterms:created xsi:type="dcterms:W3CDTF">2024-04-10T13:21:53Z</dcterms:created>
  <dcterms:modified xsi:type="dcterms:W3CDTF">2026-07-02T06:17:53Z</dcterms:modified>
</cp:coreProperties>
</file>